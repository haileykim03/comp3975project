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Arvo"/>
      <p:regular r:id="rId22"/>
      <p:bold r:id="rId23"/>
      <p:italic r:id="rId24"/>
      <p:boldItalic r:id="rId25"/>
    </p:embeddedFont>
    <p:embeddedFont>
      <p:font typeface="Roboto Condensed"/>
      <p:regular r:id="rId26"/>
      <p:bold r:id="rId27"/>
      <p:italic r:id="rId28"/>
      <p:boldItalic r:id="rId29"/>
    </p:embeddedFont>
    <p:embeddedFont>
      <p:font typeface="Roboto Condensed Light"/>
      <p:regular r:id="rId30"/>
      <p:bold r:id="rId31"/>
      <p:italic r:id="rId32"/>
      <p:boldItalic r:id="rId33"/>
    </p:embeddedFont>
    <p:embeddedFont>
      <p:font typeface="Rubik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rvo-regular.fntdata"/><Relationship Id="rId21" Type="http://schemas.openxmlformats.org/officeDocument/2006/relationships/slide" Target="slides/slide17.xml"/><Relationship Id="rId24" Type="http://schemas.openxmlformats.org/officeDocument/2006/relationships/font" Target="fonts/Arvo-italic.fntdata"/><Relationship Id="rId23" Type="http://schemas.openxmlformats.org/officeDocument/2006/relationships/font" Target="fonts/Arv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Condensed-regular.fntdata"/><Relationship Id="rId25" Type="http://schemas.openxmlformats.org/officeDocument/2006/relationships/font" Target="fonts/Arvo-boldItalic.fntdata"/><Relationship Id="rId28" Type="http://schemas.openxmlformats.org/officeDocument/2006/relationships/font" Target="fonts/RobotoCondensed-italic.fntdata"/><Relationship Id="rId27" Type="http://schemas.openxmlformats.org/officeDocument/2006/relationships/font" Target="fonts/RobotoCondense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Condense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CondensedLight-bold.fntdata"/><Relationship Id="rId30" Type="http://schemas.openxmlformats.org/officeDocument/2006/relationships/font" Target="fonts/RobotoCondensedLight-regular.fntdata"/><Relationship Id="rId11" Type="http://schemas.openxmlformats.org/officeDocument/2006/relationships/slide" Target="slides/slide7.xml"/><Relationship Id="rId33" Type="http://schemas.openxmlformats.org/officeDocument/2006/relationships/font" Target="fonts/RobotoCondensedLight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CondensedLight-italic.fntdata"/><Relationship Id="rId13" Type="http://schemas.openxmlformats.org/officeDocument/2006/relationships/slide" Target="slides/slide9.xml"/><Relationship Id="rId35" Type="http://schemas.openxmlformats.org/officeDocument/2006/relationships/font" Target="fonts/Rubik-bold.fntdata"/><Relationship Id="rId12" Type="http://schemas.openxmlformats.org/officeDocument/2006/relationships/slide" Target="slides/slide8.xml"/><Relationship Id="rId34" Type="http://schemas.openxmlformats.org/officeDocument/2006/relationships/font" Target="fonts/Rubik-regular.fntdata"/><Relationship Id="rId15" Type="http://schemas.openxmlformats.org/officeDocument/2006/relationships/slide" Target="slides/slide11.xml"/><Relationship Id="rId37" Type="http://schemas.openxmlformats.org/officeDocument/2006/relationships/font" Target="fonts/Rubik-boldItalic.fntdata"/><Relationship Id="rId14" Type="http://schemas.openxmlformats.org/officeDocument/2006/relationships/slide" Target="slides/slide10.xml"/><Relationship Id="rId36" Type="http://schemas.openxmlformats.org/officeDocument/2006/relationships/font" Target="fonts/Rubik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67e4223ec_0_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67e4223e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67e4223ec_0_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67e4223e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67e4223ec_0_2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67e4223e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67e4223ec_0_1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67e4223e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67e4223ec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67e4223e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67e4223ec_0_1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67e4223e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67e4223ec_0_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67e4223e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67e4223ec_2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67e4223ec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67e4223ec_0_2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67e4223e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67e4223ec_2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67e4223e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67e4223ec_2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67e4223e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67e4223ec_2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d67e4223e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67e4223ec_0_2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67e4223e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67e4223ec_0_2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d67e4223e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67e4223ec_2_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67e4223ec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67e4223ec_2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67e4223ec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flipH="1" rot="10800000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" name="Google Shape;39;p3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3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55" name="Google Shape;55;p4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i="1" sz="3000">
                <a:solidFill>
                  <a:srgbClr val="FFFFFF"/>
                </a:solidFill>
              </a:defRPr>
            </a:lvl1pPr>
            <a:lvl2pPr indent="-419100" lvl="1" marL="9144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2pPr>
            <a:lvl3pPr indent="-419100" lvl="2" marL="13716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3pPr>
            <a:lvl4pPr indent="-419100" lvl="3" marL="18288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4pPr>
            <a:lvl5pPr indent="-419100" lvl="4" marL="22860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5pPr>
            <a:lvl6pPr indent="-419100" lvl="5" marL="27432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6pPr>
            <a:lvl7pPr indent="-419100" lvl="6" marL="32004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7pPr>
            <a:lvl8pPr indent="-419100" lvl="7" marL="36576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8pPr>
            <a:lvl9pPr indent="-419100" lvl="8" marL="41148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9" name="Google Shape;59;p4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accent5"/>
                </a:solidFill>
              </a:rPr>
              <a:t>“</a:t>
            </a:r>
            <a:endParaRPr b="1" sz="7200">
              <a:solidFill>
                <a:schemeClr val="accent5"/>
              </a:solidFill>
            </a:endParaRPr>
          </a:p>
        </p:txBody>
      </p:sp>
      <p:sp>
        <p:nvSpPr>
          <p:cNvPr id="60" name="Google Shape;60;p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" name="Google Shape;98;p6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00" name="Google Shape;100;p6"/>
          <p:cNvSpPr txBox="1"/>
          <p:nvPr>
            <p:ph idx="2" type="body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01" name="Google Shape;101;p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" name="Google Shape;119;p7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1" name="Google Shape;121;p7"/>
          <p:cNvSpPr txBox="1"/>
          <p:nvPr>
            <p:ph idx="2" type="body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2" name="Google Shape;122;p7"/>
          <p:cNvSpPr txBox="1"/>
          <p:nvPr>
            <p:ph idx="3" type="body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3" name="Google Shape;123;p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2" name="Google Shape;142;p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/>
        </p:txBody>
      </p:sp>
      <p:sp>
        <p:nvSpPr>
          <p:cNvPr id="153" name="Google Shape;153;p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9" name="Google Shape;179;p1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AND_BODY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1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1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4" name="Google Shape;184;p1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6.jpg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BCIT Lost &amp; Found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Team 2 - Minsu, Hyelim, Hailey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Agenda</a:t>
            </a:r>
            <a:endParaRPr/>
          </a:p>
        </p:txBody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14"/>
          <p:cNvSpPr/>
          <p:nvPr/>
        </p:nvSpPr>
        <p:spPr>
          <a:xfrm>
            <a:off x="0" y="246435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2286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0" y="246435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19050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4"/>
          <p:cNvGrpSpPr/>
          <p:nvPr/>
        </p:nvGrpSpPr>
        <p:grpSpPr>
          <a:xfrm>
            <a:off x="1786339" y="1796731"/>
            <a:ext cx="473400" cy="473400"/>
            <a:chOff x="1786339" y="1703401"/>
            <a:chExt cx="473400" cy="473400"/>
          </a:xfrm>
        </p:grpSpPr>
        <p:sp>
          <p:nvSpPr>
            <p:cNvPr id="202" name="Google Shape;202;p14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04" name="Google Shape;204;p14"/>
          <p:cNvGrpSpPr/>
          <p:nvPr/>
        </p:nvGrpSpPr>
        <p:grpSpPr>
          <a:xfrm>
            <a:off x="3814414" y="1796731"/>
            <a:ext cx="473400" cy="473400"/>
            <a:chOff x="3814414" y="1703401"/>
            <a:chExt cx="473400" cy="473400"/>
          </a:xfrm>
        </p:grpSpPr>
        <p:sp>
          <p:nvSpPr>
            <p:cNvPr id="205" name="Google Shape;205;p14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3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07" name="Google Shape;207;p14"/>
          <p:cNvGrpSpPr/>
          <p:nvPr/>
        </p:nvGrpSpPr>
        <p:grpSpPr>
          <a:xfrm>
            <a:off x="5842489" y="1796731"/>
            <a:ext cx="473400" cy="473400"/>
            <a:chOff x="5842489" y="1703401"/>
            <a:chExt cx="473400" cy="473400"/>
          </a:xfrm>
        </p:grpSpPr>
        <p:sp>
          <p:nvSpPr>
            <p:cNvPr id="208" name="Google Shape;208;p14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5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6880814" y="3669630"/>
            <a:ext cx="473400" cy="473400"/>
            <a:chOff x="6880814" y="3576300"/>
            <a:chExt cx="473400" cy="473400"/>
          </a:xfrm>
        </p:grpSpPr>
        <p:sp>
          <p:nvSpPr>
            <p:cNvPr id="211" name="Google Shape;211;p14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12" name="Google Shape;212;p14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6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13" name="Google Shape;213;p14"/>
          <p:cNvGrpSpPr/>
          <p:nvPr/>
        </p:nvGrpSpPr>
        <p:grpSpPr>
          <a:xfrm>
            <a:off x="4852739" y="3669630"/>
            <a:ext cx="473400" cy="473400"/>
            <a:chOff x="4852739" y="3576300"/>
            <a:chExt cx="473400" cy="473400"/>
          </a:xfrm>
        </p:grpSpPr>
        <p:sp>
          <p:nvSpPr>
            <p:cNvPr id="214" name="Google Shape;214;p14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4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16" name="Google Shape;216;p14"/>
          <p:cNvGrpSpPr/>
          <p:nvPr/>
        </p:nvGrpSpPr>
        <p:grpSpPr>
          <a:xfrm>
            <a:off x="2824664" y="3669630"/>
            <a:ext cx="473400" cy="473400"/>
            <a:chOff x="2824664" y="3576300"/>
            <a:chExt cx="473400" cy="473400"/>
          </a:xfrm>
        </p:grpSpPr>
        <p:sp>
          <p:nvSpPr>
            <p:cNvPr id="217" name="Google Shape;217;p14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2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19" name="Google Shape;219;p14"/>
          <p:cNvSpPr txBox="1"/>
          <p:nvPr/>
        </p:nvSpPr>
        <p:spPr>
          <a:xfrm>
            <a:off x="1379850" y="124943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</a:t>
            </a:r>
            <a:endParaRPr sz="1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3377205" y="124943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Features</a:t>
            </a:r>
            <a:endParaRPr sz="1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5291083" y="1249425"/>
            <a:ext cx="164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Live Demo &amp; Code</a:t>
            </a:r>
            <a:endParaRPr sz="1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2418175" y="4156930"/>
            <a:ext cx="12864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Solution &amp;</a:t>
            </a:r>
            <a:b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Benefits</a:t>
            </a:r>
            <a:endParaRPr sz="1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4446255" y="415693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</a:t>
            </a:r>
            <a:b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Architecture</a:t>
            </a:r>
            <a:endParaRPr sz="1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6474335" y="415693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Conclusion</a:t>
            </a:r>
            <a:endParaRPr sz="1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225" name="Google Shape;225;p14"/>
          <p:cNvGrpSpPr/>
          <p:nvPr/>
        </p:nvGrpSpPr>
        <p:grpSpPr>
          <a:xfrm>
            <a:off x="315213" y="602701"/>
            <a:ext cx="303511" cy="345931"/>
            <a:chOff x="4630125" y="278900"/>
            <a:chExt cx="400675" cy="456675"/>
          </a:xfrm>
        </p:grpSpPr>
        <p:sp>
          <p:nvSpPr>
            <p:cNvPr id="226" name="Google Shape;226;p14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>
            <p:ph type="ctrTitle"/>
          </p:nvPr>
        </p:nvSpPr>
        <p:spPr>
          <a:xfrm>
            <a:off x="662085" y="315480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Problem</a:t>
            </a:r>
            <a:endParaRPr sz="3200"/>
          </a:p>
        </p:txBody>
      </p:sp>
      <p:sp>
        <p:nvSpPr>
          <p:cNvPr id="235" name="Google Shape;235;p1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" name="Google Shape;242;p16" title="Screenshot 2026-04-15 at 15.10.42.jpeg"/>
          <p:cNvPicPr preferRelativeResize="0"/>
          <p:nvPr/>
        </p:nvPicPr>
        <p:blipFill rotWithShape="1">
          <a:blip r:embed="rId3">
            <a:alphaModFix/>
          </a:blip>
          <a:srcRect b="0" l="0" r="0" t="1147"/>
          <a:stretch/>
        </p:blipFill>
        <p:spPr>
          <a:xfrm>
            <a:off x="1272771" y="694154"/>
            <a:ext cx="6598451" cy="375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17"/>
          <p:cNvSpPr txBox="1"/>
          <p:nvPr>
            <p:ph idx="4294967295" type="body"/>
          </p:nvPr>
        </p:nvSpPr>
        <p:spPr>
          <a:xfrm>
            <a:off x="785350" y="1216801"/>
            <a:ext cx="2247900" cy="27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Manual Search</a:t>
            </a:r>
            <a:endParaRPr b="1"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Students must physically visit or call security offices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 across different campuses to locate their lost items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49" name="Google Shape;249;p17"/>
          <p:cNvSpPr txBox="1"/>
          <p:nvPr>
            <p:ph idx="4294967295" type="body"/>
          </p:nvPr>
        </p:nvSpPr>
        <p:spPr>
          <a:xfrm>
            <a:off x="3448050" y="1082001"/>
            <a:ext cx="2247900" cy="27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15-Day Limit</a:t>
            </a:r>
            <a:endParaRPr b="1"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According to BCIT policy, unclaimed items are either disposed of or donated after only 15 days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250" name="Google Shape;250;p17"/>
          <p:cNvSpPr txBox="1"/>
          <p:nvPr>
            <p:ph idx="4294967295" type="body"/>
          </p:nvPr>
        </p:nvSpPr>
        <p:spPr>
          <a:xfrm>
            <a:off x="6110750" y="1216801"/>
            <a:ext cx="2247900" cy="27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Inefficient System</a:t>
            </a:r>
            <a:endParaRPr b="1"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current analog method is slow and outdated to help students recover items within this short "golden time"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/>
          <p:nvPr>
            <p:ph type="ctrTitle"/>
          </p:nvPr>
        </p:nvSpPr>
        <p:spPr>
          <a:xfrm>
            <a:off x="662085" y="315480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Solution &amp; Benefits</a:t>
            </a:r>
            <a:endParaRPr sz="3200"/>
          </a:p>
        </p:txBody>
      </p:sp>
      <p:sp>
        <p:nvSpPr>
          <p:cNvPr id="256" name="Google Shape;256;p1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19"/>
          <p:cNvSpPr txBox="1"/>
          <p:nvPr>
            <p:ph idx="4294967295" type="body"/>
          </p:nvPr>
        </p:nvSpPr>
        <p:spPr>
          <a:xfrm>
            <a:off x="704425" y="1086697"/>
            <a:ext cx="44286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Digital Lost &amp; Found Board</a:t>
            </a:r>
            <a:endParaRPr b="1" sz="2100">
              <a:solidFill>
                <a:srgbClr val="FF98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A web application that connects all buildings on the Burnaby campus</a:t>
            </a:r>
            <a:endParaRPr sz="1700"/>
          </a:p>
        </p:txBody>
      </p:sp>
      <p:grpSp>
        <p:nvGrpSpPr>
          <p:cNvPr id="264" name="Google Shape;264;p19"/>
          <p:cNvGrpSpPr/>
          <p:nvPr/>
        </p:nvGrpSpPr>
        <p:grpSpPr>
          <a:xfrm>
            <a:off x="5936900" y="373572"/>
            <a:ext cx="2119546" cy="4396359"/>
            <a:chOff x="2547150" y="238125"/>
            <a:chExt cx="2525675" cy="5238750"/>
          </a:xfrm>
        </p:grpSpPr>
        <p:sp>
          <p:nvSpPr>
            <p:cNvPr id="265" name="Google Shape;265;p19"/>
            <p:cNvSpPr/>
            <p:nvPr/>
          </p:nvSpPr>
          <p:spPr>
            <a:xfrm>
              <a:off x="2547150" y="238125"/>
              <a:ext cx="2525675" cy="5238750"/>
            </a:xfrm>
            <a:custGeom>
              <a:rect b="b" l="l" r="r" t="t"/>
              <a:pathLst>
                <a:path extrusionOk="0" h="209550" w="101027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557025" y="5147100"/>
              <a:ext cx="504050" cy="179900"/>
            </a:xfrm>
            <a:custGeom>
              <a:rect b="b" l="l" r="r" t="t"/>
              <a:pathLst>
                <a:path extrusionOk="0" h="7196" w="20162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3008050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3566400" y="434850"/>
              <a:ext cx="487175" cy="76850"/>
            </a:xfrm>
            <a:custGeom>
              <a:rect b="b" l="l" r="r" t="t"/>
              <a:pathLst>
                <a:path extrusionOk="0" h="3074" w="19487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19"/>
          <p:cNvSpPr txBox="1"/>
          <p:nvPr>
            <p:ph idx="4294967295" type="body"/>
          </p:nvPr>
        </p:nvSpPr>
        <p:spPr>
          <a:xfrm>
            <a:off x="704425" y="2208688"/>
            <a:ext cx="4428600" cy="13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Effortless Discovery via AI Chat</a:t>
            </a:r>
            <a:endParaRPr b="1" sz="2100">
              <a:solidFill>
                <a:srgbClr val="FF98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Simply describe what you lost in natural language</a:t>
            </a:r>
            <a:endParaRPr sz="1700"/>
          </a:p>
        </p:txBody>
      </p:sp>
      <p:sp>
        <p:nvSpPr>
          <p:cNvPr id="270" name="Google Shape;270;p19"/>
          <p:cNvSpPr txBox="1"/>
          <p:nvPr>
            <p:ph idx="4294967295" type="body"/>
          </p:nvPr>
        </p:nvSpPr>
        <p:spPr>
          <a:xfrm>
            <a:off x="704425" y="3476423"/>
            <a:ext cx="4871100" cy="11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Status Management System</a:t>
            </a:r>
            <a:endParaRPr b="1" sz="2100">
              <a:solidFill>
                <a:srgbClr val="FF98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Backend logic that handles the entire lifecycle</a:t>
            </a:r>
            <a:br>
              <a:rPr lang="en" sz="1700"/>
            </a:br>
            <a:r>
              <a:rPr lang="en" sz="1700"/>
              <a:t>(Pending → Active → Claimed).</a:t>
            </a:r>
            <a:endParaRPr sz="1700"/>
          </a:p>
        </p:txBody>
      </p:sp>
      <p:pic>
        <p:nvPicPr>
          <p:cNvPr id="271" name="Google Shape;271;p19"/>
          <p:cNvPicPr preferRelativeResize="0"/>
          <p:nvPr/>
        </p:nvPicPr>
        <p:blipFill rotWithShape="1">
          <a:blip r:embed="rId3">
            <a:alphaModFix/>
          </a:blip>
          <a:srcRect b="11579" l="0" r="0" t="5831"/>
          <a:stretch/>
        </p:blipFill>
        <p:spPr>
          <a:xfrm>
            <a:off x="5983950" y="761012"/>
            <a:ext cx="2025450" cy="362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/>
          <p:cNvPicPr preferRelativeResize="0"/>
          <p:nvPr/>
        </p:nvPicPr>
        <p:blipFill rotWithShape="1">
          <a:blip r:embed="rId4">
            <a:alphaModFix/>
          </a:blip>
          <a:srcRect b="7954" l="0" r="0" t="7963"/>
          <a:stretch/>
        </p:blipFill>
        <p:spPr>
          <a:xfrm>
            <a:off x="6004725" y="765925"/>
            <a:ext cx="1983899" cy="361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9"/>
          <p:cNvPicPr preferRelativeResize="0"/>
          <p:nvPr/>
        </p:nvPicPr>
        <p:blipFill rotWithShape="1">
          <a:blip r:embed="rId5">
            <a:alphaModFix/>
          </a:blip>
          <a:srcRect b="5197" l="0" r="0" t="12444"/>
          <a:stretch/>
        </p:blipFill>
        <p:spPr>
          <a:xfrm>
            <a:off x="5983950" y="765941"/>
            <a:ext cx="2025450" cy="361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&amp; Benefits</a:t>
            </a:r>
            <a:endParaRPr/>
          </a:p>
        </p:txBody>
      </p:sp>
      <p:sp>
        <p:nvSpPr>
          <p:cNvPr id="279" name="Google Shape;279;p2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20"/>
          <p:cNvSpPr txBox="1"/>
          <p:nvPr>
            <p:ph idx="1" type="body"/>
          </p:nvPr>
        </p:nvSpPr>
        <p:spPr>
          <a:xfrm>
            <a:off x="885450" y="1587175"/>
            <a:ext cx="34869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FF9800"/>
              </a:buClr>
              <a:buSzPts val="1600"/>
              <a:buChar char="▰"/>
            </a:pPr>
            <a:r>
              <a:rPr b="1" lang="en" sz="1600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Time-Saving</a:t>
            </a:r>
            <a:br>
              <a:rPr b="1" lang="en" sz="1600">
                <a:solidFill>
                  <a:srgbClr val="FF9800"/>
                </a:solidFill>
              </a:rPr>
            </a:br>
            <a:r>
              <a:rPr b="1" lang="en" sz="1600"/>
              <a:t>: Reduces the time spent searching for lost items</a:t>
            </a:r>
            <a:endParaRPr b="1" sz="1600"/>
          </a:p>
        </p:txBody>
      </p:sp>
      <p:grpSp>
        <p:nvGrpSpPr>
          <p:cNvPr id="281" name="Google Shape;281;p20"/>
          <p:cNvGrpSpPr/>
          <p:nvPr/>
        </p:nvGrpSpPr>
        <p:grpSpPr>
          <a:xfrm>
            <a:off x="350876" y="621381"/>
            <a:ext cx="194640" cy="308587"/>
            <a:chOff x="6718575" y="2318625"/>
            <a:chExt cx="256950" cy="407375"/>
          </a:xfrm>
        </p:grpSpPr>
        <p:sp>
          <p:nvSpPr>
            <p:cNvPr id="282" name="Google Shape;282;p20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20"/>
          <p:cNvSpPr/>
          <p:nvPr/>
        </p:nvSpPr>
        <p:spPr>
          <a:xfrm>
            <a:off x="545529" y="1700753"/>
            <a:ext cx="288740" cy="304420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" name="Google Shape;291;p20"/>
          <p:cNvGrpSpPr/>
          <p:nvPr/>
        </p:nvGrpSpPr>
        <p:grpSpPr>
          <a:xfrm>
            <a:off x="4602758" y="1707208"/>
            <a:ext cx="392063" cy="291505"/>
            <a:chOff x="5247525" y="3007275"/>
            <a:chExt cx="517575" cy="384825"/>
          </a:xfrm>
        </p:grpSpPr>
        <p:sp>
          <p:nvSpPr>
            <p:cNvPr id="292" name="Google Shape;292;p20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20"/>
          <p:cNvSpPr txBox="1"/>
          <p:nvPr>
            <p:ph idx="1" type="body"/>
          </p:nvPr>
        </p:nvSpPr>
        <p:spPr>
          <a:xfrm>
            <a:off x="5086100" y="1587168"/>
            <a:ext cx="34143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▰"/>
            </a:pPr>
            <a:r>
              <a:rPr b="1" lang="en" sz="1600">
                <a:solidFill>
                  <a:schemeClr val="accent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Centralized Data</a:t>
            </a:r>
            <a:br>
              <a:rPr b="1" lang="en" sz="1600">
                <a:solidFill>
                  <a:schemeClr val="accent5"/>
                </a:solidFill>
              </a:rPr>
            </a:br>
            <a:r>
              <a:rPr b="1" lang="en" sz="1600"/>
              <a:t>: Centralizes all lost and found information in one place</a:t>
            </a:r>
            <a:endParaRPr b="1" sz="1600">
              <a:solidFill>
                <a:srgbClr val="FF9800"/>
              </a:solidFill>
            </a:endParaRPr>
          </a:p>
        </p:txBody>
      </p:sp>
      <p:sp>
        <p:nvSpPr>
          <p:cNvPr id="295" name="Google Shape;295;p20"/>
          <p:cNvSpPr txBox="1"/>
          <p:nvPr>
            <p:ph idx="1" type="body"/>
          </p:nvPr>
        </p:nvSpPr>
        <p:spPr>
          <a:xfrm>
            <a:off x="885450" y="2249443"/>
            <a:ext cx="34869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FF9800"/>
              </a:buClr>
              <a:buSzPts val="1600"/>
              <a:buChar char="▰"/>
            </a:pPr>
            <a:r>
              <a:rPr b="1" lang="en" sz="1600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Quick Registration</a:t>
            </a:r>
            <a:br>
              <a:rPr b="1" lang="en" sz="1600">
                <a:solidFill>
                  <a:srgbClr val="FF9800"/>
                </a:solidFill>
              </a:rPr>
            </a:br>
            <a:r>
              <a:rPr b="1" lang="en" sz="1600"/>
              <a:t>: </a:t>
            </a:r>
            <a:r>
              <a:rPr b="1" lang="en" sz="1600"/>
              <a:t>Enables quick item registration for finders</a:t>
            </a:r>
            <a:endParaRPr b="1" sz="1600"/>
          </a:p>
        </p:txBody>
      </p:sp>
      <p:sp>
        <p:nvSpPr>
          <p:cNvPr id="296" name="Google Shape;296;p20"/>
          <p:cNvSpPr txBox="1"/>
          <p:nvPr>
            <p:ph idx="1" type="body"/>
          </p:nvPr>
        </p:nvSpPr>
        <p:spPr>
          <a:xfrm>
            <a:off x="885450" y="3281757"/>
            <a:ext cx="34869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FF9800"/>
              </a:buClr>
              <a:buSzPts val="1600"/>
              <a:buChar char="▰"/>
            </a:pPr>
            <a:r>
              <a:rPr b="1" lang="en" sz="1600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Smart Search</a:t>
            </a:r>
            <a:br>
              <a:rPr b="1" lang="en" sz="1600">
                <a:solidFill>
                  <a:srgbClr val="FF9800"/>
                </a:solidFill>
              </a:rPr>
            </a:br>
            <a:r>
              <a:rPr b="1" lang="en" sz="1600"/>
              <a:t>: </a:t>
            </a:r>
            <a:r>
              <a:rPr b="1" lang="en" sz="1600"/>
              <a:t>Helps users find items even with incomplete information</a:t>
            </a:r>
            <a:endParaRPr b="1" sz="1600"/>
          </a:p>
        </p:txBody>
      </p:sp>
      <p:sp>
        <p:nvSpPr>
          <p:cNvPr id="297" name="Google Shape;297;p20"/>
          <p:cNvSpPr txBox="1"/>
          <p:nvPr>
            <p:ph idx="1" type="body"/>
          </p:nvPr>
        </p:nvSpPr>
        <p:spPr>
          <a:xfrm>
            <a:off x="5086100" y="2434550"/>
            <a:ext cx="34143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▰"/>
            </a:pPr>
            <a:r>
              <a:rPr b="1" lang="en" sz="1600">
                <a:solidFill>
                  <a:schemeClr val="accent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Clear Process</a:t>
            </a:r>
            <a:br>
              <a:rPr b="1" lang="en" sz="1600">
                <a:solidFill>
                  <a:schemeClr val="accent5"/>
                </a:solidFill>
              </a:rPr>
            </a:br>
            <a:r>
              <a:rPr b="1" lang="en" sz="1600"/>
              <a:t>: </a:t>
            </a:r>
            <a:r>
              <a:rPr b="1" lang="en" sz="1600"/>
              <a:t>Provides a clear process for claiming and returning items</a:t>
            </a:r>
            <a:endParaRPr b="1" sz="1600"/>
          </a:p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rgbClr val="FF98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/>
          <p:nvPr>
            <p:ph type="ctrTitle"/>
          </p:nvPr>
        </p:nvSpPr>
        <p:spPr>
          <a:xfrm>
            <a:off x="662085" y="315480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Key </a:t>
            </a:r>
            <a:r>
              <a:rPr lang="en" sz="3200"/>
              <a:t>Features</a:t>
            </a:r>
            <a:endParaRPr sz="3200"/>
          </a:p>
        </p:txBody>
      </p:sp>
      <p:sp>
        <p:nvSpPr>
          <p:cNvPr id="303" name="Google Shape;303;p2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310" name="Google Shape;310;p2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22"/>
          <p:cNvSpPr txBox="1"/>
          <p:nvPr>
            <p:ph idx="1" type="body"/>
          </p:nvPr>
        </p:nvSpPr>
        <p:spPr>
          <a:xfrm>
            <a:off x="865300" y="1719025"/>
            <a:ext cx="7226400" cy="26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▰"/>
            </a:pPr>
            <a:r>
              <a:rPr lang="en" sz="2300"/>
              <a:t>Users can register found items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▰"/>
            </a:pPr>
            <a:r>
              <a:rPr lang="en" sz="2300"/>
              <a:t>Admin reviews items and updates status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▰"/>
            </a:pPr>
            <a:r>
              <a:rPr lang="en" sz="2300"/>
              <a:t>Only approved items are visible to users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▰"/>
            </a:pPr>
            <a:r>
              <a:rPr lang="en" sz="2300"/>
              <a:t>Users can request a claim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SzPts val="2300"/>
              <a:buChar char="▰"/>
            </a:pPr>
            <a:r>
              <a:rPr lang="en" sz="2300"/>
              <a:t>Admin confirms item return and updates status</a:t>
            </a:r>
            <a:endParaRPr sz="2300"/>
          </a:p>
        </p:txBody>
      </p:sp>
      <p:grpSp>
        <p:nvGrpSpPr>
          <p:cNvPr id="312" name="Google Shape;312;p22"/>
          <p:cNvGrpSpPr/>
          <p:nvPr/>
        </p:nvGrpSpPr>
        <p:grpSpPr>
          <a:xfrm>
            <a:off x="293682" y="617925"/>
            <a:ext cx="309022" cy="315499"/>
            <a:chOff x="3951850" y="2985350"/>
            <a:chExt cx="407950" cy="416500"/>
          </a:xfrm>
        </p:grpSpPr>
        <p:sp>
          <p:nvSpPr>
            <p:cNvPr id="313" name="Google Shape;313;p22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 txBox="1"/>
          <p:nvPr>
            <p:ph type="ctrTitle"/>
          </p:nvPr>
        </p:nvSpPr>
        <p:spPr>
          <a:xfrm>
            <a:off x="662085" y="315480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Architecture</a:t>
            </a:r>
            <a:endParaRPr sz="3200"/>
          </a:p>
        </p:txBody>
      </p:sp>
      <p:sp>
        <p:nvSpPr>
          <p:cNvPr id="322" name="Google Shape;322;p2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24" title="Architectural_diagram.png"/>
          <p:cNvPicPr preferRelativeResize="0"/>
          <p:nvPr/>
        </p:nvPicPr>
        <p:blipFill rotWithShape="1">
          <a:blip r:embed="rId3">
            <a:alphaModFix/>
          </a:blip>
          <a:srcRect b="16726" l="20815" r="16717" t="11119"/>
          <a:stretch/>
        </p:blipFill>
        <p:spPr>
          <a:xfrm>
            <a:off x="1705813" y="364600"/>
            <a:ext cx="5732375" cy="44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>
            <p:ph type="ctrTitle"/>
          </p:nvPr>
        </p:nvSpPr>
        <p:spPr>
          <a:xfrm>
            <a:off x="662085" y="315480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Live Demo &amp; Code</a:t>
            </a:r>
            <a:endParaRPr sz="3200"/>
          </a:p>
        </p:txBody>
      </p:sp>
      <p:sp>
        <p:nvSpPr>
          <p:cNvPr id="335" name="Google Shape;335;p2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342" name="Google Shape;342;p2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296435" y="623918"/>
            <a:ext cx="303511" cy="303511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405" y="1486150"/>
            <a:ext cx="4102101" cy="325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6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220" y="1486150"/>
            <a:ext cx="3800375" cy="325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"/>
          <p:cNvSpPr txBox="1"/>
          <p:nvPr>
            <p:ph type="ctrTitle"/>
          </p:nvPr>
        </p:nvSpPr>
        <p:spPr>
          <a:xfrm>
            <a:off x="662085" y="315480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Conclusion</a:t>
            </a:r>
            <a:endParaRPr sz="3200"/>
          </a:p>
        </p:txBody>
      </p:sp>
      <p:sp>
        <p:nvSpPr>
          <p:cNvPr id="351" name="Google Shape;351;p2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8" name="Google Shape;358;p28"/>
          <p:cNvGrpSpPr/>
          <p:nvPr/>
        </p:nvGrpSpPr>
        <p:grpSpPr>
          <a:xfrm>
            <a:off x="2050118" y="2766946"/>
            <a:ext cx="5043757" cy="907708"/>
            <a:chOff x="-1535283" y="1287960"/>
            <a:chExt cx="11486579" cy="2067200"/>
          </a:xfrm>
        </p:grpSpPr>
        <p:sp>
          <p:nvSpPr>
            <p:cNvPr id="359" name="Google Shape;359;p28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0" name="Google Shape;360;p28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1" name="Google Shape;361;p28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2" name="Google Shape;362;p28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3" name="Google Shape;363;p28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64" name="Google Shape;364;p28"/>
          <p:cNvGrpSpPr/>
          <p:nvPr/>
        </p:nvGrpSpPr>
        <p:grpSpPr>
          <a:xfrm>
            <a:off x="2050118" y="929071"/>
            <a:ext cx="5043757" cy="907708"/>
            <a:chOff x="-1535283" y="1287960"/>
            <a:chExt cx="11486579" cy="2067200"/>
          </a:xfrm>
        </p:grpSpPr>
        <p:sp>
          <p:nvSpPr>
            <p:cNvPr id="365" name="Google Shape;365;p28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7" name="Google Shape;367;p28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8" name="Google Shape;368;p28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9" name="Google Shape;369;p28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370" name="Google Shape;370;p28"/>
          <p:cNvSpPr txBox="1"/>
          <p:nvPr/>
        </p:nvSpPr>
        <p:spPr>
          <a:xfrm>
            <a:off x="2610200" y="1117900"/>
            <a:ext cx="39171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Smarter BCIT Campus</a:t>
            </a:r>
            <a:endParaRPr b="1" sz="23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2610175" y="1797751"/>
            <a:ext cx="39171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Transforming a stressful manual process</a:t>
            </a:r>
            <a:b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into a seamless digital experience.</a:t>
            </a:r>
            <a:endParaRPr sz="1500">
              <a:solidFill>
                <a:srgbClr val="3F537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2610200" y="2949634"/>
            <a:ext cx="39171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Future Scope</a:t>
            </a:r>
            <a:endParaRPr b="1" sz="23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2610200" y="3747318"/>
            <a:ext cx="39171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Campus-Wide Expansion</a:t>
            </a:r>
            <a:b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Rollout to Downtown, Aerospace, </a:t>
            </a:r>
            <a:b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lang="en" sz="1500">
                <a:solidFill>
                  <a:srgbClr val="3F537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and Marine campuses.</a:t>
            </a:r>
            <a:endParaRPr sz="1500">
              <a:solidFill>
                <a:srgbClr val="3F537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29"/>
          <p:cNvSpPr txBox="1"/>
          <p:nvPr>
            <p:ph idx="4294967295" type="ctrTitle"/>
          </p:nvPr>
        </p:nvSpPr>
        <p:spPr>
          <a:xfrm>
            <a:off x="1275150" y="2382543"/>
            <a:ext cx="6593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5"/>
                </a:solidFill>
              </a:rPr>
              <a:t>THANKS!</a:t>
            </a:r>
            <a:endParaRPr sz="6000">
              <a:solidFill>
                <a:schemeClr val="accent5"/>
              </a:solidFill>
            </a:endParaRPr>
          </a:p>
        </p:txBody>
      </p:sp>
      <p:sp>
        <p:nvSpPr>
          <p:cNvPr id="380" name="Google Shape;380;p29"/>
          <p:cNvSpPr txBox="1"/>
          <p:nvPr>
            <p:ph idx="4294967295" type="subTitle"/>
          </p:nvPr>
        </p:nvSpPr>
        <p:spPr>
          <a:xfrm>
            <a:off x="1275150" y="3084857"/>
            <a:ext cx="6593700" cy="13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Any questions?</a:t>
            </a:r>
            <a:endParaRPr b="1" sz="2000"/>
          </a:p>
        </p:txBody>
      </p:sp>
      <p:grpSp>
        <p:nvGrpSpPr>
          <p:cNvPr id="381" name="Google Shape;381;p29"/>
          <p:cNvGrpSpPr/>
          <p:nvPr/>
        </p:nvGrpSpPr>
        <p:grpSpPr>
          <a:xfrm>
            <a:off x="3996210" y="1030317"/>
            <a:ext cx="1197664" cy="1126777"/>
            <a:chOff x="5972700" y="2330200"/>
            <a:chExt cx="411625" cy="387275"/>
          </a:xfrm>
        </p:grpSpPr>
        <p:sp>
          <p:nvSpPr>
            <p:cNvPr id="382" name="Google Shape;382;p29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